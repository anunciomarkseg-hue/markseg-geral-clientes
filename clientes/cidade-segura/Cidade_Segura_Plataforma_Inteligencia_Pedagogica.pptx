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Abrir pela plataforma e pelo resultado que ela entrega à Secretaria de Educação. Os produtos aparecem depois, como módulos de expansão.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frase que deve ficar com a Secretaria. Repetir no 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Reforçar: a plataforma é o produto principal. Os módulos são extensões dela.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Primeira imagem conceitual do briefing: painel central de inteligência com dashboards, mapas, câmeras e indicadores, e ao redor os produtos conectados.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Quem opera a central é a equipe da Secretaria. O papel da Cidade Segura é a plataforma e o suporte.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é a lógica que justifica o modelo modular: cada produto novo alimenta a mesma inteligência.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Visão geral antes de detalhar. Os próximos slides descrevem cada produto.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embarque no ônibus e a chegada à escola são os dois primeiros eventos que a plataforma cruza.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Produto 4 é o que mais se parece com videomonitoramento tradicional. Apresentar sempre como fonte de dados da 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ressalva jurídica do áudio em sala de aula faz parte do briefing e deve ser dita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Funcionalidades extraídas da página oficial do ClassVision. A análise emocional por reconhecimento facial ficou de fora por envolver dado biométrico sensível de menores; validar com jurídico antes de incluir.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Manter a ressalva final visível. Ela protege a proposta comercial de promessas que ainda dependem de desenvolvimento.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município começa pela plataforma e pelos módulos de maior urgência; os demais entram como expansão.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Fechar repetindo a mensagem principal e deixar o contato na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C94400"/>
              </a:gs>
              <a:gs pos="100000">
                <a:srgbClr val="EE7A2A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874000" y="254000"/>
            <a:ext cx="4064000" cy="4064000"/>
          </a:xfrm>
          <a:prstGeom prst="ellipse">
            <a:avLst/>
          </a:prstGeom>
          <a:solidFill>
            <a:srgbClr val="E062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812800"/>
            <a:ext cx="2406650" cy="1524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2800" y="29845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D9BF"/>
                </a:solidFill>
                <a:latin typeface="Barlow"/>
              </a:rPr>
              <a:t>APRESENTAÇÃO COMERCIAL · REDES MUNICIPAIS DE ENSINO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3302000"/>
            <a:ext cx="7937500" cy="165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DFA"/>
                </a:solidFill>
                <a:latin typeface="Barlow"/>
              </a:rPr>
              <a:t>Plataforma Integrada de Inteligência Pedagógica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5016500"/>
            <a:ext cx="7937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FFF0E4"/>
                </a:solidFill>
                <a:latin typeface="Barlow"/>
              </a:rPr>
              <a:t>Uma única plataforma. Toda a rede escolar conectada.</a:t>
            </a:r>
          </a:p>
          <a:p>
            <a:pPr algn="l">
              <a:lnSpc>
                <a:spcPct val="130000"/>
              </a:lnSpc>
            </a:pPr>
            <a:r>
              <a:rPr sz="1600" b="0">
                <a:solidFill>
                  <a:srgbClr val="FFF0E4"/>
                </a:solidFill>
                <a:latin typeface="Barlow"/>
              </a:rPr>
              <a:t>Dados integrados, inteligência e decisões em tempo real.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62992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E4D1"/>
                </a:solidFill>
                <a:latin typeface="Barlow"/>
              </a:rPr>
              <a:t>www.cidadesegura.seg.br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12800" y="812800"/>
            <a:ext cx="177800" cy="5232400"/>
          </a:xfrm>
          <a:prstGeom prst="rect">
            <a:avLst/>
          </a:prstGeom>
          <a:gradFill rotWithShape="1">
            <a:gsLst>
              <a:gs pos="0">
                <a:srgbClr val="EE7A2A"/>
              </a:gs>
              <a:gs pos="100000">
                <a:srgbClr val="D84C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600200" y="1587500"/>
            <a:ext cx="889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MENSAGEM PRINCIPAL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00200" y="1905000"/>
            <a:ext cx="9525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313332"/>
                </a:solidFill>
                <a:latin typeface="Barlow"/>
              </a:rPr>
              <a:t>Uma única plataforma.
Toda a rede escolar conectada.
</a:t>
            </a:r>
            <a:r>
              <a:rPr sz="4000" b="1">
                <a:solidFill>
                  <a:srgbClr val="D84C00"/>
                </a:solidFill>
                <a:latin typeface="Barlow"/>
              </a:rPr>
              <a:t>Dados integrados, inteligência e decisões em tempo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4699000"/>
            <a:ext cx="8255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5A5553"/>
                </a:solidFill>
                <a:latin typeface="Barlow"/>
              </a:rPr>
              <a:t>Mais do que monitorar escolas, a proposta é transformar informações dispersas em inteligência para a gestão da educação pública.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62992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817B"/>
                </a:solidFill>
                <a:latin typeface="Barlow"/>
              </a:rPr>
              <a:t>www.cidadesegura.seg.br</a:t>
            </a:r>
          </a:p>
        </p:txBody>
      </p:sp>
      <p:pic>
        <p:nvPicPr>
          <p:cNvPr id="7" name="Picture 6" descr="logo_dar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950" y="6108700"/>
            <a:ext cx="603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O CONCEITO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79500"/>
            <a:ext cx="1056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313332"/>
                </a:solidFill>
                <a:latin typeface="Barlow"/>
              </a:rPr>
              <a:t>Um ecossistema tecnológico para a gestão da rede municipal de ensino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540000"/>
            <a:ext cx="6096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A5553"/>
                </a:solidFill>
                <a:latin typeface="Barlow"/>
              </a:rPr>
              <a:t>A Plataforma Integrada de Inteligência Pedagógica reúne informações, imagens, eventos e indicadores de diferentes sistemas escolares em um único ambiente.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937000"/>
            <a:ext cx="6096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5A5553"/>
                </a:solidFill>
                <a:latin typeface="Barlow"/>
              </a:rPr>
              <a:t>Seu diferencial é permitir o </a:t>
            </a:r>
            <a:r>
              <a:rPr sz="1500" b="1">
                <a:solidFill>
                  <a:srgbClr val="313332"/>
                </a:solidFill>
                <a:latin typeface="Barlow"/>
              </a:rPr>
              <a:t>monitoramento, cruzamento e análise inteligente de dados</a:t>
            </a:r>
            <a:r>
              <a:rPr sz="1500" b="0">
                <a:solidFill>
                  <a:srgbClr val="5A5553"/>
                </a:solidFill>
                <a:latin typeface="Barlow"/>
              </a:rPr>
              <a:t>, oferecendo à Secretaria Municipal de Educação uma visão centralizada de toda a rede.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0" y="2540000"/>
            <a:ext cx="4064000" cy="2794000"/>
          </a:xfrm>
          <a:prstGeom prst="rect">
            <a:avLst/>
          </a:prstGeom>
          <a:gradFill rotWithShape="1">
            <a:gsLst>
              <a:gs pos="0">
                <a:srgbClr val="D84C00"/>
              </a:gs>
              <a:gs pos="100000">
                <a:srgbClr val="EE7A2A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0" y="2844800"/>
            <a:ext cx="3454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D9BF"/>
                </a:solidFill>
                <a:latin typeface="Barlow"/>
              </a:rPr>
              <a:t>POSICIONAMENTO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0" y="3149600"/>
            <a:ext cx="34544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FFFDFA"/>
                </a:solidFill>
                <a:latin typeface="Barlow"/>
              </a:rPr>
              <a:t>Plataforma de inteligência, segurança e gestão educacional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0" y="4191000"/>
            <a:ext cx="3454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FFF0E4"/>
                </a:solidFill>
                <a:latin typeface="Barlow"/>
              </a:rPr>
              <a:t>O projeto é apresentado como tecnologia de gestão e inteligência para a educação pública, e não como fornecimento de câmeras ou equipamentos.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62992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817B"/>
                </a:solidFill>
                <a:latin typeface="Barlow"/>
              </a:rPr>
              <a:t>www.cidadesegura.seg.br</a:t>
            </a:r>
          </a:p>
        </p:txBody>
      </p:sp>
      <p:pic>
        <p:nvPicPr>
          <p:cNvPr id="11" name="Picture 10" descr="logo_dar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950" y="6108700"/>
            <a:ext cx="603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5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558800"/>
            <a:ext cx="1056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E7A2A"/>
                </a:solidFill>
                <a:latin typeface="Barlow"/>
              </a:rPr>
              <a:t>A PLATAFORMA NO CENTRO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825500"/>
            <a:ext cx="105664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700" b="1">
                <a:solidFill>
                  <a:srgbClr val="FFFDFA"/>
                </a:solidFill>
                <a:latin typeface="Barlow"/>
              </a:rPr>
              <a:t>Um núcleo de inteligência. Sete produtos conectados.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02000" y="1651000"/>
            <a:ext cx="5588000" cy="3429000"/>
          </a:xfrm>
          <a:prstGeom prst="roundRect">
            <a:avLst>
              <a:gd name="adj" fmla="val 3703"/>
            </a:avLst>
          </a:prstGeom>
          <a:solidFill>
            <a:srgbClr val="120D0A"/>
          </a:solidFill>
          <a:ln w="12700">
            <a:solidFill>
              <a:srgbClr val="4A34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54400" y="1803400"/>
            <a:ext cx="2565400" cy="2032000"/>
          </a:xfrm>
          <a:prstGeom prst="roundRect">
            <a:avLst>
              <a:gd name="adj" fmla="val 3750"/>
            </a:avLst>
          </a:prstGeom>
          <a:solidFill>
            <a:srgbClr val="1B15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56000" y="18796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D9BF"/>
                </a:solidFill>
                <a:latin typeface="Barlow"/>
              </a:rPr>
              <a:t>Rede escolar · mapa</a:t>
            </a:r>
          </a:p>
        </p:txBody>
      </p:sp>
      <p:sp>
        <p:nvSpPr>
          <p:cNvPr id="7" name="Oval 6"/>
          <p:cNvSpPr/>
          <p:nvPr/>
        </p:nvSpPr>
        <p:spPr>
          <a:xfrm>
            <a:off x="3771900" y="3644900"/>
            <a:ext cx="127000" cy="1270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406900" y="2882900"/>
            <a:ext cx="127000" cy="1270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295900" y="2120900"/>
            <a:ext cx="127000" cy="1270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49900" y="3200400"/>
            <a:ext cx="127000" cy="1270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962400" y="2120900"/>
            <a:ext cx="127000" cy="1270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803400"/>
            <a:ext cx="1206500" cy="939800"/>
          </a:xfrm>
          <a:prstGeom prst="roundRect">
            <a:avLst>
              <a:gd name="adj" fmla="val 8108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61100" y="1892300"/>
            <a:ext cx="88900" cy="889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1100" y="2463800"/>
            <a:ext cx="101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9DCD1"/>
                </a:solidFill>
                <a:latin typeface="Barlow"/>
              </a:rPr>
              <a:t>Portão 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31100" y="1803400"/>
            <a:ext cx="1206500" cy="939800"/>
          </a:xfrm>
          <a:prstGeom prst="roundRect">
            <a:avLst>
              <a:gd name="adj" fmla="val 8108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20000" y="1892300"/>
            <a:ext cx="88900" cy="889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0" y="2463800"/>
            <a:ext cx="101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9DCD1"/>
                </a:solidFill>
                <a:latin typeface="Barlow"/>
              </a:rPr>
              <a:t>Pátio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895600"/>
            <a:ext cx="1206500" cy="939800"/>
          </a:xfrm>
          <a:prstGeom prst="roundRect">
            <a:avLst>
              <a:gd name="adj" fmla="val 8108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261100" y="2984500"/>
            <a:ext cx="88900" cy="889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1100" y="3556000"/>
            <a:ext cx="101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9DCD1"/>
                </a:solidFill>
                <a:latin typeface="Barlow"/>
              </a:rPr>
              <a:t>Ônibus 07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31100" y="2895600"/>
            <a:ext cx="1206500" cy="939800"/>
          </a:xfrm>
          <a:prstGeom prst="roundRect">
            <a:avLst>
              <a:gd name="adj" fmla="val 8108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20000" y="2984500"/>
            <a:ext cx="88900" cy="889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0" y="3556000"/>
            <a:ext cx="101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E9DCD1"/>
                </a:solidFill>
                <a:latin typeface="Barlow"/>
              </a:rPr>
              <a:t>Saguão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454400" y="3987800"/>
            <a:ext cx="1206500" cy="939800"/>
          </a:xfrm>
          <a:prstGeom prst="roundRect">
            <a:avLst>
              <a:gd name="adj" fmla="val 8108"/>
            </a:avLst>
          </a:prstGeom>
          <a:solidFill>
            <a:srgbClr val="24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56000" y="4089400"/>
            <a:ext cx="101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FAE9F"/>
                </a:solidFill>
                <a:latin typeface="Barlow"/>
              </a:rPr>
              <a:t>Frequência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56000" y="4495800"/>
            <a:ext cx="101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DFA"/>
                </a:solidFill>
                <a:latin typeface="Barlow"/>
              </a:rPr>
              <a:t>94%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813300" y="3987800"/>
            <a:ext cx="1206500" cy="939800"/>
          </a:xfrm>
          <a:prstGeom prst="roundRect">
            <a:avLst>
              <a:gd name="adj" fmla="val 8108"/>
            </a:avLst>
          </a:prstGeom>
          <a:solidFill>
            <a:srgbClr val="24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4900" y="4089400"/>
            <a:ext cx="101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FAE9F"/>
                </a:solidFill>
                <a:latin typeface="Barlow"/>
              </a:rPr>
              <a:t>Alertas IA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4900" y="4495800"/>
            <a:ext cx="101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E7A2A"/>
                </a:solidFill>
                <a:latin typeface="Barlow"/>
              </a:rPr>
              <a:t>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87800"/>
            <a:ext cx="1206500" cy="939800"/>
          </a:xfrm>
          <a:prstGeom prst="roundRect">
            <a:avLst>
              <a:gd name="adj" fmla="val 8108"/>
            </a:avLst>
          </a:prstGeom>
          <a:solidFill>
            <a:srgbClr val="24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73800" y="4089400"/>
            <a:ext cx="101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FAE9F"/>
                </a:solidFill>
                <a:latin typeface="Barlow"/>
              </a:rPr>
              <a:t>Transporte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3800" y="4495800"/>
            <a:ext cx="101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FFFDFA"/>
                </a:solidFill>
                <a:latin typeface="Barlow"/>
              </a:rPr>
              <a:t>42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31100" y="3987800"/>
            <a:ext cx="1206500" cy="939800"/>
          </a:xfrm>
          <a:prstGeom prst="roundRect">
            <a:avLst>
              <a:gd name="adj" fmla="val 8108"/>
            </a:avLst>
          </a:prstGeom>
          <a:solidFill>
            <a:srgbClr val="241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2700" y="4089400"/>
            <a:ext cx="101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FAE9F"/>
                </a:solidFill>
                <a:latin typeface="Barlow"/>
              </a:rPr>
              <a:t>Risco evasão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2700" y="4495800"/>
            <a:ext cx="1016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EE7A2A"/>
                </a:solidFill>
                <a:latin typeface="Barlow"/>
              </a:rPr>
              <a:t>17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2800" y="190500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12800" y="1905000"/>
            <a:ext cx="38100" cy="609600"/>
          </a:xfrm>
          <a:prstGeom prst="rect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5200" y="1905000"/>
            <a:ext cx="1981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DFA"/>
                </a:solidFill>
                <a:latin typeface="Barlow"/>
              </a:rPr>
              <a:t>Transporte Escolar Inteligente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098800" y="2209800"/>
            <a:ext cx="203200" cy="0"/>
          </a:xfrm>
          <a:prstGeom prst="line">
            <a:avLst/>
          </a:prstGeom>
          <a:ln w="28575">
            <a:solidFill>
              <a:srgbClr val="EE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12800" y="285750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2800" y="2857500"/>
            <a:ext cx="38100" cy="609600"/>
          </a:xfrm>
          <a:prstGeom prst="rect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5200" y="2857500"/>
            <a:ext cx="1981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DFA"/>
                </a:solidFill>
                <a:latin typeface="Barlow"/>
              </a:rPr>
              <a:t>Controle de Acesso Escolar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3098800" y="3162300"/>
            <a:ext cx="203200" cy="0"/>
          </a:xfrm>
          <a:prstGeom prst="line">
            <a:avLst/>
          </a:prstGeom>
          <a:ln w="28575">
            <a:solidFill>
              <a:srgbClr val="EE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12800" y="381000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12800" y="3810000"/>
            <a:ext cx="38100" cy="609600"/>
          </a:xfrm>
          <a:prstGeom prst="rect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5200" y="3810000"/>
            <a:ext cx="1981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DFA"/>
                </a:solidFill>
                <a:latin typeface="Barlow"/>
              </a:rPr>
              <a:t>Reconhecimento Facial nos Saguões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098800" y="4114800"/>
            <a:ext cx="203200" cy="0"/>
          </a:xfrm>
          <a:prstGeom prst="line">
            <a:avLst/>
          </a:prstGeom>
          <a:ln w="28575">
            <a:solidFill>
              <a:srgbClr val="EE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093200" y="190500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1341100" y="1905000"/>
            <a:ext cx="38100" cy="609600"/>
          </a:xfrm>
          <a:prstGeom prst="rect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45600" y="1905000"/>
            <a:ext cx="1981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DFA"/>
                </a:solidFill>
                <a:latin typeface="Barlow"/>
              </a:rPr>
              <a:t>Videomonitoramento Escolar e Perimetral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890000" y="2209800"/>
            <a:ext cx="203200" cy="0"/>
          </a:xfrm>
          <a:prstGeom prst="line">
            <a:avLst/>
          </a:prstGeom>
          <a:ln w="28575">
            <a:solidFill>
              <a:srgbClr val="EE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093200" y="285750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341100" y="2857500"/>
            <a:ext cx="38100" cy="609600"/>
          </a:xfrm>
          <a:prstGeom prst="rect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45600" y="2857500"/>
            <a:ext cx="1981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DFA"/>
                </a:solidFill>
                <a:latin typeface="Barlow"/>
              </a:rPr>
              <a:t>Monitoramento de Salas de Aula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8890000" y="3162300"/>
            <a:ext cx="203200" cy="0"/>
          </a:xfrm>
          <a:prstGeom prst="line">
            <a:avLst/>
          </a:prstGeom>
          <a:ln w="28575">
            <a:solidFill>
              <a:srgbClr val="EE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9093200" y="3810000"/>
            <a:ext cx="2286000" cy="609600"/>
          </a:xfrm>
          <a:prstGeom prst="roundRect">
            <a:avLst>
              <a:gd name="adj" fmla="val 12500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341100" y="3810000"/>
            <a:ext cx="38100" cy="609600"/>
          </a:xfrm>
          <a:prstGeom prst="rect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45600" y="3810000"/>
            <a:ext cx="19812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20000"/>
              </a:lnSpc>
            </a:pPr>
            <a:r>
              <a:rPr sz="1200" b="1">
                <a:solidFill>
                  <a:srgbClr val="FFFDFA"/>
                </a:solidFill>
                <a:latin typeface="Barlow"/>
              </a:rPr>
              <a:t>Inteligência Artificial e Analíticos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890000" y="4114800"/>
            <a:ext cx="203200" cy="0"/>
          </a:xfrm>
          <a:prstGeom prst="line">
            <a:avLst/>
          </a:prstGeom>
          <a:ln w="28575">
            <a:solidFill>
              <a:srgbClr val="EE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4826000" y="5435600"/>
            <a:ext cx="2540000" cy="508000"/>
          </a:xfrm>
          <a:prstGeom prst="roundRect">
            <a:avLst>
              <a:gd name="adj" fmla="val 15000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26000" y="5905500"/>
            <a:ext cx="2540000" cy="38100"/>
          </a:xfrm>
          <a:prstGeom prst="rect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826000" y="5435600"/>
            <a:ext cx="2540000" cy="50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FFDFA"/>
                </a:solidFill>
                <a:latin typeface="Barlow"/>
              </a:rPr>
              <a:t>Gestão Educacional · ClassVision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6096000" y="5080000"/>
            <a:ext cx="0" cy="355600"/>
          </a:xfrm>
          <a:prstGeom prst="line">
            <a:avLst/>
          </a:prstGeom>
          <a:ln w="28575">
            <a:solidFill>
              <a:srgbClr val="EE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812800" y="6299200"/>
            <a:ext cx="1056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8A7A6E"/>
                </a:solidFill>
                <a:latin typeface="Barlow"/>
              </a:rPr>
              <a:t>Imagem conceitual · indicadores ilustrativos · os módulos são produtos da plataforma, não soluções independentes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5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E7A2A"/>
                </a:solidFill>
                <a:latin typeface="Barlow"/>
              </a:rPr>
              <a:t>CENTRAL DE INTELIGÊNCIA PEDAGÓGICA · CIP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79500"/>
            <a:ext cx="1056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DFA"/>
                </a:solidFill>
                <a:latin typeface="Barlow"/>
              </a:rPr>
              <a:t>A materialização visual e operacional da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413000"/>
            <a:ext cx="330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E9DCD1"/>
                </a:solidFill>
                <a:latin typeface="Barlow"/>
              </a:rPr>
              <a:t>Instalada preferencialmente na Secretaria de Educação, a CIP conta com um </a:t>
            </a:r>
            <a:r>
              <a:rPr sz="1400" b="1">
                <a:solidFill>
                  <a:srgbClr val="FFFDFA"/>
                </a:solidFill>
                <a:latin typeface="Barlow"/>
              </a:rPr>
              <a:t>videowall</a:t>
            </a:r>
            <a:r>
              <a:rPr sz="1400" b="0">
                <a:solidFill>
                  <a:srgbClr val="E9DCD1"/>
                </a:solidFill>
                <a:latin typeface="Barlow"/>
              </a:rPr>
              <a:t> que apresenta em tempo real as informações de toda a rede.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810000"/>
            <a:ext cx="3302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E9DCD1"/>
                </a:solidFill>
                <a:latin typeface="Barlow"/>
              </a:rPr>
              <a:t>O conceito é o de um centro de inteligência, semelhante a um centro integrado de operações, porém voltado à educação.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1200" y="2413000"/>
            <a:ext cx="3365500" cy="825500"/>
          </a:xfrm>
          <a:prstGeom prst="roundRect">
            <a:avLst>
              <a:gd name="adj" fmla="val 12307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699000" y="2730500"/>
            <a:ext cx="190500" cy="1905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54600" y="2413000"/>
            <a:ext cx="2667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DFA"/>
                </a:solidFill>
                <a:latin typeface="Barlow"/>
              </a:rPr>
              <a:t>Imagens das escolas e áreas perimetrais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3700" y="2413000"/>
            <a:ext cx="3365500" cy="825500"/>
          </a:xfrm>
          <a:prstGeom prst="roundRect">
            <a:avLst>
              <a:gd name="adj" fmla="val 12307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191500" y="2730500"/>
            <a:ext cx="190500" cy="1905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7100" y="2413000"/>
            <a:ext cx="2667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DFA"/>
                </a:solidFill>
                <a:latin typeface="Barlow"/>
              </a:rPr>
              <a:t>Localização e operação do transporte escolar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1200" y="3365500"/>
            <a:ext cx="3365500" cy="825500"/>
          </a:xfrm>
          <a:prstGeom prst="roundRect">
            <a:avLst>
              <a:gd name="adj" fmla="val 12307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99000" y="3683000"/>
            <a:ext cx="190500" cy="1905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4600" y="3365500"/>
            <a:ext cx="2667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DFA"/>
                </a:solidFill>
                <a:latin typeface="Barlow"/>
              </a:rPr>
              <a:t>Controle de acesso e presença dos alunos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3700" y="3365500"/>
            <a:ext cx="3365500" cy="825500"/>
          </a:xfrm>
          <a:prstGeom prst="roundRect">
            <a:avLst>
              <a:gd name="adj" fmla="val 12307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191500" y="3683000"/>
            <a:ext cx="190500" cy="1905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7100" y="3365500"/>
            <a:ext cx="2667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DFA"/>
                </a:solidFill>
                <a:latin typeface="Barlow"/>
              </a:rPr>
              <a:t>Alertas e ocorrências identificados por inteligência artificial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1200" y="4318000"/>
            <a:ext cx="3365500" cy="825500"/>
          </a:xfrm>
          <a:prstGeom prst="roundRect">
            <a:avLst>
              <a:gd name="adj" fmla="val 12307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99000" y="4635500"/>
            <a:ext cx="190500" cy="1905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4600" y="4318000"/>
            <a:ext cx="2667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DFA"/>
                </a:solidFill>
                <a:latin typeface="Barlow"/>
              </a:rPr>
              <a:t>Indicadores de frequência, evasão e alimentação escolar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13700" y="4318000"/>
            <a:ext cx="3365500" cy="825500"/>
          </a:xfrm>
          <a:prstGeom prst="roundRect">
            <a:avLst>
              <a:gd name="adj" fmla="val 12307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91500" y="4635500"/>
            <a:ext cx="190500" cy="1905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7100" y="4318000"/>
            <a:ext cx="2667000" cy="825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FFFDFA"/>
                </a:solidFill>
                <a:latin typeface="Barlow"/>
              </a:rPr>
              <a:t>Painéis de gestão e cruzamento de dados entre os sistemas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62992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BFAE9F"/>
                </a:solidFill>
                <a:latin typeface="Barlow"/>
              </a:rPr>
              <a:t>www.cidadesegura.seg.br</a:t>
            </a:r>
          </a:p>
        </p:txBody>
      </p:sp>
      <p:pic>
        <p:nvPicPr>
          <p:cNvPr id="25" name="Picture 2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950" y="6108700"/>
            <a:ext cx="603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COMO A PLATAFORMA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79500"/>
            <a:ext cx="1056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313332"/>
                </a:solidFill>
                <a:latin typeface="Barlow"/>
              </a:rPr>
              <a:t>Da coleta à decisão, em quatro camadas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413000"/>
            <a:ext cx="2374900" cy="2540000"/>
          </a:xfrm>
          <a:prstGeom prst="roundRect">
            <a:avLst>
              <a:gd name="adj" fmla="val 5347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1400" y="2641600"/>
            <a:ext cx="19177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3CDB4"/>
                </a:solidFill>
                <a:latin typeface="Barlow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1400" y="3175000"/>
            <a:ext cx="1917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13332"/>
                </a:solidFill>
                <a:latin typeface="Barlow"/>
              </a:rPr>
              <a:t>Os produtos coletam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1400" y="3810000"/>
            <a:ext cx="19177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A5553"/>
                </a:solidFill>
                <a:latin typeface="Barlow"/>
              </a:rPr>
              <a:t>Transporte, acesso, câmeras, salas de aula e sistemas pedagógicos geram informações.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38500" y="3594100"/>
            <a:ext cx="254000" cy="177800"/>
          </a:xfrm>
          <a:prstGeom prst="rightArrow">
            <a:avLst/>
          </a:prstGeom>
          <a:solidFill>
            <a:srgbClr val="D8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43300" y="2413000"/>
            <a:ext cx="2374900" cy="2540000"/>
          </a:xfrm>
          <a:prstGeom prst="roundRect">
            <a:avLst>
              <a:gd name="adj" fmla="val 5347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1900" y="2641600"/>
            <a:ext cx="19177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3CDB4"/>
                </a:solidFill>
                <a:latin typeface="Barlow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1900" y="3175000"/>
            <a:ext cx="1917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13332"/>
                </a:solidFill>
                <a:latin typeface="Barlow"/>
              </a:rPr>
              <a:t>A plataforma integra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1900" y="3810000"/>
            <a:ext cx="19177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A5553"/>
                </a:solidFill>
                <a:latin typeface="Barlow"/>
              </a:rPr>
              <a:t>Sistemas distintos passam a conversar em um único ambiente de gestão.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69000" y="3594100"/>
            <a:ext cx="254000" cy="177800"/>
          </a:xfrm>
          <a:prstGeom prst="rightArrow">
            <a:avLst/>
          </a:prstGeom>
          <a:solidFill>
            <a:srgbClr val="D8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3800" y="2413000"/>
            <a:ext cx="2374900" cy="2540000"/>
          </a:xfrm>
          <a:prstGeom prst="roundRect">
            <a:avLst>
              <a:gd name="adj" fmla="val 5347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2400" y="2641600"/>
            <a:ext cx="19177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3CDB4"/>
                </a:solidFill>
                <a:latin typeface="Barlow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2400" y="3175000"/>
            <a:ext cx="1917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313332"/>
                </a:solidFill>
                <a:latin typeface="Barlow"/>
              </a:rPr>
              <a:t>A inteligência cruza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2400" y="3810000"/>
            <a:ext cx="19177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5A5553"/>
                </a:solidFill>
                <a:latin typeface="Barlow"/>
              </a:rPr>
              <a:t>Dados correlacionados viram alertas, padrões e relatórios gerenciais.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99500" y="3594100"/>
            <a:ext cx="254000" cy="177800"/>
          </a:xfrm>
          <a:prstGeom prst="rightArrow">
            <a:avLst/>
          </a:prstGeom>
          <a:solidFill>
            <a:srgbClr val="D8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04300" y="2413000"/>
            <a:ext cx="2374900" cy="2540000"/>
          </a:xfrm>
          <a:prstGeom prst="rect">
            <a:avLst/>
          </a:prstGeom>
          <a:gradFill rotWithShape="1">
            <a:gsLst>
              <a:gs pos="0">
                <a:srgbClr val="D84C00"/>
              </a:gs>
              <a:gs pos="100000">
                <a:srgbClr val="EE7A2A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2900" y="2641600"/>
            <a:ext cx="19177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>
                <a:solidFill>
                  <a:srgbClr val="FFD9BF"/>
                </a:solidFill>
                <a:latin typeface="Barlow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2900" y="3175000"/>
            <a:ext cx="19177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FFFDFA"/>
                </a:solidFill>
                <a:latin typeface="Barlow"/>
              </a:rPr>
              <a:t>A gestão decide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2900" y="3810000"/>
            <a:ext cx="19177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FFF0E4"/>
                </a:solidFill>
                <a:latin typeface="Barlow"/>
              </a:rPr>
              <a:t>A Secretaria transforma informação em decisão, com visão de toda a rede.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" y="52070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A5553"/>
                </a:solidFill>
                <a:latin typeface="Barlow"/>
              </a:rPr>
              <a:t>Os produtos coletam informações. A plataforma integra os sistemas. A inteligência cruza os dados. </a:t>
            </a:r>
            <a:r>
              <a:rPr sz="1400" b="1">
                <a:solidFill>
                  <a:srgbClr val="D84C00"/>
                </a:solidFill>
                <a:latin typeface="Barlow"/>
              </a:rPr>
              <a:t>A gestão transforma essas informações em decisões.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62992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817B"/>
                </a:solidFill>
                <a:latin typeface="Barlow"/>
              </a:rPr>
              <a:t>www.cidadesegura.seg.br</a:t>
            </a:r>
          </a:p>
        </p:txBody>
      </p:sp>
      <p:pic>
        <p:nvPicPr>
          <p:cNvPr id="25" name="Picture 24" descr="logo_dar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950" y="6108700"/>
            <a:ext cx="603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PRODUTOS E MÓDULOS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79500"/>
            <a:ext cx="1056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313332"/>
                </a:solidFill>
                <a:latin typeface="Barlow"/>
              </a:rPr>
              <a:t>Sete produtos conectados à plataforma</a:t>
            </a:r>
          </a:p>
        </p:txBody>
      </p:sp>
      <p:sp>
        <p:nvSpPr>
          <p:cNvPr id="4" name="Rectangle 3"/>
          <p:cNvSpPr/>
          <p:nvPr/>
        </p:nvSpPr>
        <p:spPr>
          <a:xfrm>
            <a:off x="812800" y="2286000"/>
            <a:ext cx="2546350" cy="1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2800" y="2286000"/>
            <a:ext cx="2546350" cy="38100"/>
          </a:xfrm>
          <a:prstGeom prst="rect">
            <a:avLst/>
          </a:prstGeom>
          <a:solidFill>
            <a:srgbClr val="D84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600" y="2501900"/>
            <a:ext cx="2190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600" y="2768600"/>
            <a:ext cx="21907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13332"/>
                </a:solidFill>
                <a:latin typeface="Barlow"/>
              </a:rPr>
              <a:t>Transporte Escolar Inteligente</a:t>
            </a:r>
          </a:p>
        </p:txBody>
      </p:sp>
      <p:sp>
        <p:nvSpPr>
          <p:cNvPr id="8" name="Rectangle 7"/>
          <p:cNvSpPr/>
          <p:nvPr/>
        </p:nvSpPr>
        <p:spPr>
          <a:xfrm>
            <a:off x="3486150" y="2286000"/>
            <a:ext cx="2546350" cy="1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86150" y="2286000"/>
            <a:ext cx="2546350" cy="38100"/>
          </a:xfrm>
          <a:prstGeom prst="rect">
            <a:avLst/>
          </a:prstGeom>
          <a:solidFill>
            <a:srgbClr val="D84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3950" y="2501900"/>
            <a:ext cx="2190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3950" y="2768600"/>
            <a:ext cx="21907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13332"/>
                </a:solidFill>
                <a:latin typeface="Barlow"/>
              </a:rPr>
              <a:t>Controle de Acesso Escolar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59500" y="2286000"/>
            <a:ext cx="2546350" cy="1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59500" y="2286000"/>
            <a:ext cx="2546350" cy="38100"/>
          </a:xfrm>
          <a:prstGeom prst="rect">
            <a:avLst/>
          </a:prstGeom>
          <a:solidFill>
            <a:srgbClr val="D84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7300" y="2501900"/>
            <a:ext cx="2190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7300" y="2768600"/>
            <a:ext cx="21907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13332"/>
                </a:solidFill>
                <a:latin typeface="Barlow"/>
              </a:rPr>
              <a:t>Reconhecimento Facial nos Saguões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32850" y="2286000"/>
            <a:ext cx="2546350" cy="1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32850" y="2286000"/>
            <a:ext cx="2546350" cy="38100"/>
          </a:xfrm>
          <a:prstGeom prst="rect">
            <a:avLst/>
          </a:prstGeom>
          <a:solidFill>
            <a:srgbClr val="D84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10650" y="2501900"/>
            <a:ext cx="2190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0650" y="2768600"/>
            <a:ext cx="21907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13332"/>
                </a:solidFill>
                <a:latin typeface="Barlow"/>
              </a:rPr>
              <a:t>Videomonitoramento Escolar e Perimetral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2800" y="3683000"/>
            <a:ext cx="2546350" cy="1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2800" y="3683000"/>
            <a:ext cx="2546350" cy="38100"/>
          </a:xfrm>
          <a:prstGeom prst="rect">
            <a:avLst/>
          </a:prstGeom>
          <a:solidFill>
            <a:srgbClr val="D84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0600" y="3898900"/>
            <a:ext cx="2190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600" y="4165600"/>
            <a:ext cx="21907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13332"/>
                </a:solidFill>
                <a:latin typeface="Barlow"/>
              </a:rPr>
              <a:t>Monitoramento de Salas de Aula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86150" y="3683000"/>
            <a:ext cx="2546350" cy="1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86150" y="3683000"/>
            <a:ext cx="2546350" cy="38100"/>
          </a:xfrm>
          <a:prstGeom prst="rect">
            <a:avLst/>
          </a:prstGeom>
          <a:solidFill>
            <a:srgbClr val="D84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63950" y="3898900"/>
            <a:ext cx="2190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63950" y="4165600"/>
            <a:ext cx="21907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13332"/>
                </a:solidFill>
                <a:latin typeface="Barlow"/>
              </a:rPr>
              <a:t>Inteligência Artificial e Analíticos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59500" y="3683000"/>
            <a:ext cx="2546350" cy="127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59500" y="3683000"/>
            <a:ext cx="2546350" cy="38100"/>
          </a:xfrm>
          <a:prstGeom prst="rect">
            <a:avLst/>
          </a:prstGeom>
          <a:solidFill>
            <a:srgbClr val="D84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7300" y="3898900"/>
            <a:ext cx="219075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 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7300" y="4165600"/>
            <a:ext cx="219075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313332"/>
                </a:solidFill>
                <a:latin typeface="Barlow"/>
              </a:rPr>
              <a:t>Gestão Educacional · ClassVision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32850" y="3683000"/>
            <a:ext cx="2546350" cy="1270000"/>
          </a:xfrm>
          <a:prstGeom prst="rect">
            <a:avLst/>
          </a:prstGeom>
          <a:gradFill rotWithShape="1">
            <a:gsLst>
              <a:gs pos="0">
                <a:srgbClr val="D84C00"/>
              </a:gs>
              <a:gs pos="100000">
                <a:srgbClr val="EE7A2A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10650" y="3683000"/>
            <a:ext cx="2190750" cy="127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FFFDFA"/>
                </a:solidFill>
                <a:latin typeface="Barlow"/>
              </a:rPr>
              <a:t>Cada produto pode ser contratado e implantado de forma gradual, conforme a necessidade do município.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5334000"/>
            <a:ext cx="105664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5A5553"/>
                </a:solidFill>
                <a:latin typeface="Barlow"/>
              </a:rPr>
              <a:t>Na comunicação comercial, os módulos são produtos da plataforma, e não soluções independentes.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2800" y="62992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817B"/>
                </a:solidFill>
                <a:latin typeface="Barlow"/>
              </a:rPr>
              <a:t>www.cidadesegura.seg.br</a:t>
            </a:r>
          </a:p>
        </p:txBody>
      </p:sp>
      <p:pic>
        <p:nvPicPr>
          <p:cNvPr id="36" name="Picture 35" descr="logo_dar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950" y="6108700"/>
            <a:ext cx="603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PRODUTOS 1 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79500"/>
            <a:ext cx="1056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313332"/>
                </a:solidFill>
                <a:latin typeface="Barlow"/>
              </a:rPr>
              <a:t>Do trajeto de casa até o portão da escola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286000"/>
            <a:ext cx="5181600" cy="355600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" y="2565400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2832100"/>
            <a:ext cx="4572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313332"/>
                </a:solidFill>
                <a:latin typeface="Barlow"/>
              </a:rPr>
              <a:t>Transporte Escolar Inteligente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3594100"/>
            <a:ext cx="4572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5553"/>
                </a:solidFill>
                <a:latin typeface="Barlow"/>
              </a:rPr>
              <a:t>Monitoramento de veículos, GPS, rotas, câmeras embarcadas, controle de embarque e desembarque, presença dos alunos e indicadores operacionais.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7600" y="4699000"/>
            <a:ext cx="12192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7600" y="4699000"/>
            <a:ext cx="12192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GPS e rotas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13000" y="4699000"/>
            <a:ext cx="182245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13000" y="4699000"/>
            <a:ext cx="182245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Câmeras embarcadas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7600" y="5054600"/>
            <a:ext cx="216535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7600" y="5054600"/>
            <a:ext cx="216535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Embarque e desembarque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9150" y="5054600"/>
            <a:ext cx="19050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59150" y="5054600"/>
            <a:ext cx="1905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Presença dos alunos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17600" y="5410200"/>
            <a:ext cx="23368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7600" y="5410200"/>
            <a:ext cx="2336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Indicadores operacionais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7600" y="2286000"/>
            <a:ext cx="5181600" cy="355600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2400" y="2565400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2400" y="2832100"/>
            <a:ext cx="4572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313332"/>
                </a:solidFill>
                <a:latin typeface="Barlow"/>
              </a:rPr>
              <a:t>Controle de Acesso Escolar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2400" y="3594100"/>
            <a:ext cx="4572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5553"/>
                </a:solidFill>
                <a:latin typeface="Barlow"/>
              </a:rPr>
              <a:t>Catracas com reconhecimento facial, controle de entradas e saídas, identificação de alunos e visitantes.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02400" y="4699000"/>
            <a:ext cx="319405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2400" y="4699000"/>
            <a:ext cx="319405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Catracas com reconhecimento facial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02400" y="5054600"/>
            <a:ext cx="173355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2400" y="5054600"/>
            <a:ext cx="173355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Entradas e saídas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12150" y="5054600"/>
            <a:ext cx="22479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2150" y="5054600"/>
            <a:ext cx="2247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Identificação de alunos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02400" y="5410200"/>
            <a:ext cx="25908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2400" y="5410200"/>
            <a:ext cx="2590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Identificação de visitantes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2800" y="62992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817B"/>
                </a:solidFill>
                <a:latin typeface="Barlow"/>
              </a:rPr>
              <a:t>www.cidadesegura.seg.br</a:t>
            </a:r>
          </a:p>
        </p:txBody>
      </p:sp>
      <p:pic>
        <p:nvPicPr>
          <p:cNvPr id="31" name="Picture 30" descr="logo_dar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950" y="6108700"/>
            <a:ext cx="603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PRODUTOS 3 E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79500"/>
            <a:ext cx="1056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313332"/>
                </a:solidFill>
                <a:latin typeface="Barlow"/>
              </a:rPr>
              <a:t>Visibilidade das áreas comuns e do perímetro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286000"/>
            <a:ext cx="5181600" cy="355600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" y="2565400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2832100"/>
            <a:ext cx="4572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313332"/>
                </a:solidFill>
                <a:latin typeface="Barlow"/>
              </a:rPr>
              <a:t>Reconhecimento Facial nos Saguões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3594100"/>
            <a:ext cx="4572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5553"/>
                </a:solidFill>
                <a:latin typeface="Barlow"/>
              </a:rPr>
              <a:t>Identificação e registro de circulação nas entradas e áreas comuns, com integração aos dados de presença e segurança.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7600" y="4699000"/>
            <a:ext cx="22479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7600" y="4699000"/>
            <a:ext cx="2247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Entradas e áreas comuns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1700" y="4699000"/>
            <a:ext cx="216535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1700" y="4699000"/>
            <a:ext cx="216535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Registro de circulação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7600" y="5054600"/>
            <a:ext cx="22479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7600" y="5054600"/>
            <a:ext cx="2247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Integração com presença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600" y="5410200"/>
            <a:ext cx="23368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7600" y="5410200"/>
            <a:ext cx="2336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Integração com segurança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7600" y="2286000"/>
            <a:ext cx="5181600" cy="355600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2400" y="2565400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2400" y="2832100"/>
            <a:ext cx="4572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313332"/>
                </a:solidFill>
                <a:latin typeface="Barlow"/>
              </a:rPr>
              <a:t>Videomonitoramento Escolar e Perimetral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2400" y="3594100"/>
            <a:ext cx="4572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5553"/>
                </a:solidFill>
                <a:latin typeface="Barlow"/>
              </a:rPr>
              <a:t>Câmeras internas e externas, monitoramento de instalações, prevenção de invasões e acompanhamento de ocorrências.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02400" y="4699000"/>
            <a:ext cx="25908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2400" y="4699000"/>
            <a:ext cx="25908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Câmeras internas e externas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02400" y="5054600"/>
            <a:ext cx="26797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2400" y="5054600"/>
            <a:ext cx="26797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Monitoramento de instalações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02400" y="5410200"/>
            <a:ext cx="207645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2400" y="5410200"/>
            <a:ext cx="207645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Prevenção de invasões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02400" y="5765800"/>
            <a:ext cx="276225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02400" y="5765800"/>
            <a:ext cx="276225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Acompanhamento de ocorrências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2800" y="62992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817B"/>
                </a:solidFill>
                <a:latin typeface="Barlow"/>
              </a:rPr>
              <a:t>www.cidadesegura.seg.br</a:t>
            </a:r>
          </a:p>
        </p:txBody>
      </p:sp>
      <p:pic>
        <p:nvPicPr>
          <p:cNvPr id="29" name="Picture 28" descr="logo_dar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950" y="6108700"/>
            <a:ext cx="603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PRODUTOS 5 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79500"/>
            <a:ext cx="1056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313332"/>
                </a:solidFill>
                <a:latin typeface="Barlow"/>
              </a:rPr>
              <a:t>Da sala de aula aos analíticos de inteligência artificial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12800" y="2286000"/>
            <a:ext cx="5181600" cy="355600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7600" y="2565400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2832100"/>
            <a:ext cx="4572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313332"/>
                </a:solidFill>
                <a:latin typeface="Barlow"/>
              </a:rPr>
              <a:t>Monitoramento de Salas de Aula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3594100"/>
            <a:ext cx="4572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5553"/>
                </a:solidFill>
                <a:latin typeface="Barlow"/>
              </a:rPr>
              <a:t>Sistemas de imagem e, quando juridicamente permitido, captação de áudio para finalidades específicas de segurança e registro de ocorrências.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17600" y="4699000"/>
            <a:ext cx="182245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7600" y="4699000"/>
            <a:ext cx="182245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Sistemas de imagem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7600" y="5054600"/>
            <a:ext cx="33655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7600" y="5054600"/>
            <a:ext cx="33655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Áudio quando juridicamente permitido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17600" y="5410200"/>
            <a:ext cx="22479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7600" y="5410200"/>
            <a:ext cx="22479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Registro de ocorrências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7600" y="2286000"/>
            <a:ext cx="5181600" cy="3556000"/>
          </a:xfrm>
          <a:prstGeom prst="roundRect">
            <a:avLst>
              <a:gd name="adj" fmla="val 4285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02400" y="2565400"/>
            <a:ext cx="4572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PRODUTO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2400" y="2832100"/>
            <a:ext cx="4572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000" b="1">
                <a:solidFill>
                  <a:srgbClr val="313332"/>
                </a:solidFill>
                <a:latin typeface="Barlow"/>
              </a:rPr>
              <a:t>Inteligência Artificial e Analíticos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2400" y="3594100"/>
            <a:ext cx="4572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5A5553"/>
                </a:solidFill>
                <a:latin typeface="Barlow"/>
              </a:rPr>
              <a:t>Desenvolvimento de novos analíticos, inclusive com aproveitamento das câmeras já instaladas nas escolas, conforme compatibilidade técnica.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02400" y="4699000"/>
            <a:ext cx="16510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02400" y="4699000"/>
            <a:ext cx="16510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Novos analíticos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02400" y="5054600"/>
            <a:ext cx="29337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2400" y="5054600"/>
            <a:ext cx="29337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Aproveita câmeras já instaladas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02400" y="5410200"/>
            <a:ext cx="3022600" cy="279400"/>
          </a:xfrm>
          <a:prstGeom prst="roundRect">
            <a:avLst>
              <a:gd name="adj" fmla="val 50000"/>
            </a:avLst>
          </a:prstGeom>
          <a:solidFill>
            <a:srgbClr val="FBE8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02400" y="5410200"/>
            <a:ext cx="3022600" cy="279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Conforme compatibilidade técnica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62992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817B"/>
                </a:solidFill>
                <a:latin typeface="Barlow"/>
              </a:rPr>
              <a:t>www.cidadesegura.seg.br</a:t>
            </a:r>
          </a:p>
        </p:txBody>
      </p:sp>
      <p:pic>
        <p:nvPicPr>
          <p:cNvPr id="25" name="Picture 24" descr="logo_dar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950" y="6108700"/>
            <a:ext cx="603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5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E7A2A"/>
                </a:solidFill>
                <a:latin typeface="Barlow"/>
              </a:rPr>
              <a:t>PRODUTO 7 · GESTÃO EDUCACIONAL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79500"/>
            <a:ext cx="1056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DFA"/>
                </a:solidFill>
                <a:latin typeface="Barlow"/>
              </a:rPr>
              <a:t>ClassVision: a camada pedagógica da plataforma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2349500"/>
            <a:ext cx="3556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E9DCD1"/>
                </a:solidFill>
                <a:latin typeface="Barlow"/>
              </a:rPr>
              <a:t>Integração de informações de frequência, evasão, alimentação escolar e outros indicadores pedagógicos, conforme funcionalidades e integrações disponíveis.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3619500"/>
            <a:ext cx="3556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BFAE9F"/>
                </a:solidFill>
                <a:latin typeface="Barlow"/>
              </a:rPr>
              <a:t>Aplicativo de gestão escolar em nuvem, com dashboard interativo para diretores, coordenadores e mantenedores, que passa a alimentar a Central de Inteligência Pedagógica.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4826000"/>
            <a:ext cx="3556000" cy="825500"/>
          </a:xfrm>
          <a:prstGeom prst="roundRect">
            <a:avLst>
              <a:gd name="adj" fmla="val 9230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" y="4826000"/>
            <a:ext cx="38100" cy="825500"/>
          </a:xfrm>
          <a:prstGeom prst="rect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6000" y="49657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EE7A2A"/>
                </a:solidFill>
                <a:latin typeface="Barlow"/>
              </a:rPr>
              <a:t>ALERTAS DE EVASÃO POR FAIXA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6000" y="5219700"/>
            <a:ext cx="317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E9DCD1"/>
                </a:solidFill>
                <a:latin typeface="Barlow"/>
              </a:rPr>
              <a:t>Ausência de 10% a 15% · de 15% a 25% · acima de 25%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24400" y="2349500"/>
            <a:ext cx="3263900" cy="1016000"/>
          </a:xfrm>
          <a:prstGeom prst="roundRect">
            <a:avLst>
              <a:gd name="adj" fmla="val 10000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902200" y="2501900"/>
            <a:ext cx="152400" cy="1524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02200" y="2730500"/>
            <a:ext cx="2908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DFA"/>
                </a:solidFill>
                <a:latin typeface="Barlow"/>
              </a:rPr>
              <a:t>Análise de presença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02200" y="2971800"/>
            <a:ext cx="2908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FAE9F"/>
                </a:solidFill>
                <a:latin typeface="Barlow"/>
              </a:rPr>
              <a:t>Frequência e ausência por turma, gênero e período, em tempo real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15300" y="2349500"/>
            <a:ext cx="3263900" cy="1016000"/>
          </a:xfrm>
          <a:prstGeom prst="roundRect">
            <a:avLst>
              <a:gd name="adj" fmla="val 10000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93100" y="2501900"/>
            <a:ext cx="152400" cy="1524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3100" y="2730500"/>
            <a:ext cx="2908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DFA"/>
                </a:solidFill>
                <a:latin typeface="Barlow"/>
              </a:rPr>
              <a:t>Análise individual do aluno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3100" y="2971800"/>
            <a:ext cx="2908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FAE9F"/>
                </a:solidFill>
                <a:latin typeface="Barlow"/>
              </a:rPr>
              <a:t>Horários de entrada e saída, linha do tempo e percentual de evasão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4400" y="3492500"/>
            <a:ext cx="3263900" cy="1016000"/>
          </a:xfrm>
          <a:prstGeom prst="roundRect">
            <a:avLst>
              <a:gd name="adj" fmla="val 10000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02200" y="3644900"/>
            <a:ext cx="152400" cy="1524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02200" y="3873500"/>
            <a:ext cx="2908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DFA"/>
                </a:solidFill>
                <a:latin typeface="Barlow"/>
              </a:rPr>
              <a:t>Controle do refeitório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2200" y="4114800"/>
            <a:ext cx="2908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FAE9F"/>
                </a:solidFill>
                <a:latin typeface="Barlow"/>
              </a:rPr>
              <a:t>Refeições por turma, gênero e data, com distribuição semanal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5300" y="3492500"/>
            <a:ext cx="3263900" cy="1016000"/>
          </a:xfrm>
          <a:prstGeom prst="roundRect">
            <a:avLst>
              <a:gd name="adj" fmla="val 10000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93100" y="3644900"/>
            <a:ext cx="152400" cy="1524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100" y="3873500"/>
            <a:ext cx="2908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DFA"/>
                </a:solidFill>
                <a:latin typeface="Barlow"/>
              </a:rPr>
              <a:t>Gestão de evasão escolar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100" y="4114800"/>
            <a:ext cx="2908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FAE9F"/>
                </a:solidFill>
                <a:latin typeface="Barlow"/>
              </a:rPr>
              <a:t>Alertas automáticos para alunos em nível crítico de ausência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24400" y="4635500"/>
            <a:ext cx="3263900" cy="1016000"/>
          </a:xfrm>
          <a:prstGeom prst="roundRect">
            <a:avLst>
              <a:gd name="adj" fmla="val 10000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902200" y="4787900"/>
            <a:ext cx="152400" cy="1524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02200" y="5016500"/>
            <a:ext cx="2908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DFA"/>
                </a:solidFill>
                <a:latin typeface="Barlow"/>
              </a:rPr>
              <a:t>Perfil da unidade escolar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02200" y="5257800"/>
            <a:ext cx="2908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FAE9F"/>
                </a:solidFill>
                <a:latin typeface="Barlow"/>
              </a:rPr>
              <a:t>Alunos, turmas, frequência e refeições de cada unidade em um painel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5300" y="4635500"/>
            <a:ext cx="3263900" cy="1016000"/>
          </a:xfrm>
          <a:prstGeom prst="roundRect">
            <a:avLst>
              <a:gd name="adj" fmla="val 10000"/>
            </a:avLst>
          </a:prstGeom>
          <a:solidFill>
            <a:srgbClr val="2A1F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93100" y="4787900"/>
            <a:ext cx="152400" cy="152400"/>
          </a:xfrm>
          <a:prstGeom prst="ellipse">
            <a:avLst/>
          </a:prstGeom>
          <a:solidFill>
            <a:srgbClr val="E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93100" y="5016500"/>
            <a:ext cx="29083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FFFDFA"/>
                </a:solidFill>
                <a:latin typeface="Barlow"/>
              </a:rPr>
              <a:t>Dashboard interativo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93100" y="5257800"/>
            <a:ext cx="29083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BFAE9F"/>
                </a:solidFill>
                <a:latin typeface="Barlow"/>
              </a:rPr>
              <a:t>Navegação por aluno, turma, período e unidade, em qualquer dispositivo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2800" y="6299200"/>
            <a:ext cx="825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7A6E"/>
                </a:solidFill>
                <a:latin typeface="Barlow"/>
              </a:rPr>
              <a:t>www.cidadesegura.seg.br · ClassVision é um produto VF2 Tecnologia</a:t>
            </a:r>
          </a:p>
        </p:txBody>
      </p:sp>
      <p:pic>
        <p:nvPicPr>
          <p:cNvPr id="35" name="Picture 34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950" y="6108700"/>
            <a:ext cx="603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D84C00"/>
                </a:solidFill>
                <a:latin typeface="Barlow"/>
              </a:rPr>
              <a:t>PRINCIPAL DIFERENCIAL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1079500"/>
            <a:ext cx="105664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313332"/>
                </a:solidFill>
                <a:latin typeface="Barlow"/>
              </a:rPr>
              <a:t>Cruzamento inteligente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905000"/>
            <a:ext cx="9525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5A5553"/>
                </a:solidFill>
                <a:latin typeface="Barlow"/>
              </a:rPr>
              <a:t>O maior valor comercial da plataforma está na capacidade de correlacionar informações provenientes de diferentes produtos.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2800" y="2540000"/>
            <a:ext cx="3435350" cy="1143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0600" y="2717800"/>
            <a:ext cx="317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D84C00"/>
                </a:solidFill>
                <a:latin typeface="Barlow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6200" y="2717800"/>
            <a:ext cx="27305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13332"/>
                </a:solidFill>
                <a:latin typeface="Barlow"/>
              </a:rPr>
              <a:t>Cruzar o embarque do aluno no ônibus com sua chegada à escola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75150" y="2540000"/>
            <a:ext cx="3435350" cy="1143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2950" y="2717800"/>
            <a:ext cx="317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D84C00"/>
                </a:solidFill>
                <a:latin typeface="Barlow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8550" y="2717800"/>
            <a:ext cx="27305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13332"/>
                </a:solidFill>
                <a:latin typeface="Barlow"/>
              </a:rPr>
              <a:t>Relacionar o registro de acesso à unidade com os indicadores de frequência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37500" y="2540000"/>
            <a:ext cx="3435350" cy="1143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5300" y="2717800"/>
            <a:ext cx="317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D84C00"/>
                </a:solidFill>
                <a:latin typeface="Barlow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0900" y="2717800"/>
            <a:ext cx="27305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13332"/>
                </a:solidFill>
                <a:latin typeface="Barlow"/>
              </a:rPr>
              <a:t>Identificar alunos com ausência recorrente e apoiar ações preventivas contra a evasão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800" y="3810000"/>
            <a:ext cx="3435350" cy="1143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600" y="3987800"/>
            <a:ext cx="317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D84C00"/>
                </a:solidFill>
                <a:latin typeface="Barlow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6200" y="3987800"/>
            <a:ext cx="27305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13332"/>
                </a:solidFill>
                <a:latin typeface="Barlow"/>
              </a:rPr>
              <a:t>Relacionar ocorrências de segurança com imagens e registros de acesso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75150" y="3810000"/>
            <a:ext cx="3435350" cy="1143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52950" y="3987800"/>
            <a:ext cx="317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D84C00"/>
                </a:solidFill>
                <a:latin typeface="Barlow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08550" y="3987800"/>
            <a:ext cx="27305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13332"/>
                </a:solidFill>
                <a:latin typeface="Barlow"/>
              </a:rPr>
              <a:t>Consolidar indicadores de transporte, presença e alimentação escolar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37500" y="3810000"/>
            <a:ext cx="3435350" cy="114300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2700">
            <a:solidFill>
              <a:srgbClr val="EA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5300" y="3987800"/>
            <a:ext cx="317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900" b="1">
                <a:solidFill>
                  <a:srgbClr val="D84C00"/>
                </a:solidFill>
                <a:latin typeface="Barlow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0900" y="3987800"/>
            <a:ext cx="2730500" cy="825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313332"/>
                </a:solidFill>
                <a:latin typeface="Barlow"/>
              </a:rPr>
              <a:t>Gerar alertas automáticos e relatórios gerenciais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800" y="5270500"/>
            <a:ext cx="9525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8A817B"/>
                </a:solidFill>
                <a:latin typeface="Barlow"/>
              </a:rPr>
              <a:t>Essas funcionalidades representam o conceito de integração pretendido e dependerão de desenvolvimento, compatibilidade e validação técnica.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62992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817B"/>
                </a:solidFill>
                <a:latin typeface="Barlow"/>
              </a:rPr>
              <a:t>www.cidadesegura.seg.br</a:t>
            </a:r>
          </a:p>
        </p:txBody>
      </p:sp>
      <p:pic>
        <p:nvPicPr>
          <p:cNvPr id="25" name="Picture 24" descr="logo_dar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950" y="6108700"/>
            <a:ext cx="603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C94400"/>
              </a:gs>
              <a:gs pos="100000">
                <a:srgbClr val="EE7A2A"/>
              </a:gs>
            </a:gsLst>
            <a:lin scaled="0" ang="13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812800"/>
            <a:ext cx="105664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FD9BF"/>
                </a:solidFill>
                <a:latin typeface="Barlow"/>
              </a:rPr>
              <a:t>MODELO COMERCIAL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1079500"/>
            <a:ext cx="105664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DFA"/>
                </a:solidFill>
                <a:latin typeface="Barlow"/>
              </a:rPr>
              <a:t>Uma plataforma principal, módulos contratados no ritmo de cada município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2349500"/>
            <a:ext cx="9525000" cy="635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FFF0E4"/>
                </a:solidFill>
                <a:latin typeface="Barlow"/>
              </a:rPr>
              <a:t>A plataforma é apresentada como a solução principal, permitindo a contratação e implantação gradual dos módulos conforme a necessidade de cada município.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2800" y="3302000"/>
            <a:ext cx="2006600" cy="1905000"/>
          </a:xfrm>
          <a:prstGeom prst="roundRect">
            <a:avLst>
              <a:gd name="adj" fmla="val 5333"/>
            </a:avLst>
          </a:prstGeom>
          <a:solidFill>
            <a:srgbClr val="F38A45"/>
          </a:solidFill>
          <a:ln w="12700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0600" y="3505200"/>
            <a:ext cx="177800" cy="177800"/>
          </a:xfrm>
          <a:prstGeom prst="ellipse">
            <a:avLst/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600" y="3860800"/>
            <a:ext cx="1651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DFA"/>
                </a:solidFill>
                <a:latin typeface="Barlow"/>
              </a:rPr>
              <a:t>Implantação modular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46400" y="3302000"/>
            <a:ext cx="2006600" cy="1905000"/>
          </a:xfrm>
          <a:prstGeom prst="roundRect">
            <a:avLst>
              <a:gd name="adj" fmla="val 5333"/>
            </a:avLst>
          </a:prstGeom>
          <a:solidFill>
            <a:srgbClr val="F38A45"/>
          </a:solidFill>
          <a:ln w="12700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124200" y="3505200"/>
            <a:ext cx="177800" cy="177800"/>
          </a:xfrm>
          <a:prstGeom prst="ellipse">
            <a:avLst/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4200" y="3860800"/>
            <a:ext cx="1651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DFA"/>
                </a:solidFill>
                <a:latin typeface="Barlow"/>
              </a:rPr>
              <a:t>Integração de tecnologias e sistemas existentes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0000" y="3302000"/>
            <a:ext cx="2006600" cy="1905000"/>
          </a:xfrm>
          <a:prstGeom prst="roundRect">
            <a:avLst>
              <a:gd name="adj" fmla="val 5333"/>
            </a:avLst>
          </a:prstGeom>
          <a:solidFill>
            <a:srgbClr val="F38A45"/>
          </a:solidFill>
          <a:ln w="12700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57800" y="3505200"/>
            <a:ext cx="177800" cy="177800"/>
          </a:xfrm>
          <a:prstGeom prst="ellipse">
            <a:avLst/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3860800"/>
            <a:ext cx="1651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DFA"/>
                </a:solidFill>
                <a:latin typeface="Barlow"/>
              </a:rPr>
              <a:t>Ampliação progressiva dos produtos contratados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13600" y="3302000"/>
            <a:ext cx="2006600" cy="1905000"/>
          </a:xfrm>
          <a:prstGeom prst="roundRect">
            <a:avLst>
              <a:gd name="adj" fmla="val 5333"/>
            </a:avLst>
          </a:prstGeom>
          <a:solidFill>
            <a:srgbClr val="F38A45"/>
          </a:solidFill>
          <a:ln w="12700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1400" y="3505200"/>
            <a:ext cx="177800" cy="177800"/>
          </a:xfrm>
          <a:prstGeom prst="ellipse">
            <a:avLst/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1400" y="3860800"/>
            <a:ext cx="1651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DFA"/>
                </a:solidFill>
                <a:latin typeface="Barlow"/>
              </a:rPr>
              <a:t>Desenvolvimento de novas funcionalidades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47200" y="3302000"/>
            <a:ext cx="2006600" cy="1905000"/>
          </a:xfrm>
          <a:prstGeom prst="roundRect">
            <a:avLst>
              <a:gd name="adj" fmla="val 5333"/>
            </a:avLst>
          </a:prstGeom>
          <a:solidFill>
            <a:srgbClr val="F38A45"/>
          </a:solidFill>
          <a:ln w="12700">
            <a:solidFill>
              <a:srgbClr val="FFD9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525000" y="3505200"/>
            <a:ext cx="177800" cy="177800"/>
          </a:xfrm>
          <a:prstGeom prst="ellipse">
            <a:avLst/>
          </a:prstGeom>
          <a:solidFill>
            <a:srgbClr val="FF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25000" y="3860800"/>
            <a:ext cx="1651000" cy="1206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FFFDFA"/>
                </a:solidFill>
                <a:latin typeface="Barlow"/>
              </a:rPr>
              <a:t>Centralização da gestão e dos indicadores da rede municipal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2800" y="6299200"/>
            <a:ext cx="762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FFE4D1"/>
                </a:solidFill>
                <a:latin typeface="Barlow"/>
              </a:rPr>
              <a:t>www.cidadesegura.seg.br</a:t>
            </a:r>
          </a:p>
        </p:txBody>
      </p:sp>
      <p:pic>
        <p:nvPicPr>
          <p:cNvPr id="22" name="Picture 21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5950" y="6108700"/>
            <a:ext cx="60325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12800" y="1270000"/>
            <a:ext cx="48260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313332"/>
                </a:solidFill>
                <a:latin typeface="Barlow"/>
              </a:rPr>
              <a:t>Uma única plataforma.</a:t>
            </a:r>
          </a:p>
          <a:p>
            <a:pPr algn="l">
              <a:lnSpc>
                <a:spcPct val="115000"/>
              </a:lnSpc>
            </a:pPr>
            <a:r>
              <a:rPr sz="2700" b="1">
                <a:solidFill>
                  <a:srgbClr val="313332"/>
                </a:solidFill>
                <a:latin typeface="Barlow"/>
              </a:rPr>
              <a:t>Toda a rede escolar conectada.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2800" y="2476500"/>
            <a:ext cx="48260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5A5553"/>
                </a:solidFill>
                <a:latin typeface="Barlow"/>
              </a:rPr>
              <a:t>Mais do que monitorar escolas, a proposta é transformar informações dispersas em inteligência para a gestão da educação pública.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3556000"/>
            <a:ext cx="4826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313332"/>
                </a:solidFill>
                <a:latin typeface="Barlow"/>
              </a:rPr>
              <a:t>Contate-nos para uma apresentação.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4064000"/>
            <a:ext cx="4826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>
                <a:solidFill>
                  <a:srgbClr val="D84C00"/>
                </a:solidFill>
                <a:latin typeface="Barlow"/>
              </a:rPr>
              <a:t>4007-2266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2800" y="4445000"/>
            <a:ext cx="4826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D84C00"/>
                </a:solidFill>
                <a:latin typeface="Barlow"/>
              </a:rPr>
              <a:t>www.cidadesegura.seg.br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5080000"/>
            <a:ext cx="4826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8A817B"/>
                </a:solidFill>
                <a:latin typeface="Barlow"/>
              </a:rPr>
              <a:t>Ecossistema de Negócios · Sistema IRIS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0" y="812800"/>
            <a:ext cx="2159000" cy="5232400"/>
          </a:xfrm>
          <a:prstGeom prst="rect">
            <a:avLst/>
          </a:prstGeom>
          <a:gradFill rotWithShape="1">
            <a:gsLst>
              <a:gs pos="0">
                <a:srgbClr val="EE7A2A"/>
              </a:gs>
              <a:gs pos="100000">
                <a:srgbClr val="D84C00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dark_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7000" y="2603500"/>
            <a:ext cx="2362200" cy="149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