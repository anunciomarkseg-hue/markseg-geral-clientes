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PLANO ESTRATÉGICO</a:t>
            </a:r>
            <a:br/>
            <a:r>
              <a:t>DE MARKETING</a:t>
            </a:r>
          </a:p>
          <a:p>
            <a:pPr>
              <a:spcBef>
                <a:spcPts val="1800"/>
              </a:spcBef>
              <a:defRPr sz="2000">
                <a:solidFill>
                  <a:srgbClr val="BED7E6"/>
                </a:solidFill>
              </a:defRPr>
            </a:pPr>
            <a:r>
              <a:t>NevoaGlobal · Mercado Brasileiro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1663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Estratégia · Posicionamento · Canal · Ecossistema · Conteúdo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Resumo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  <a:latin typeface="Aptos"/>
              </a:defRPr>
            </a:pPr>
            <a:r>
              <a:t>Cinco blocos estratégicos para estruturar a entrada e o crescimento no Brasil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16002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1. Posicionamento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6712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Definir com precisão o que a empresa vende e o diferencial da névoa.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29000" cy="16002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160020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673351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2. Segmentação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16712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Priorizar verticais com maior relevância de roubo em ponto fixo.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508760"/>
            <a:ext cx="3429000" cy="16002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59" y="1508760"/>
            <a:ext cx="73152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7" y="1673351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3. Ecossistema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167128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Construir alianças com associações, seguradoras e outros influenciadores.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3429000" cy="16002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73152" cy="160020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63931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4. Canal técnico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33087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Integrar a névoa ao ecossistema de alarmes e CFTV.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429000" cy="16002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73152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63931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5. Eventos + conteúdo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133087"/>
            <a:ext cx="3063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Gerar demonstração, leads e autoridade ao longo de 12 meses.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Equipe e responsabilidades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3619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Renato · Diretor 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29967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Estratégia, acordos, relacionamento com associações e seguradoras e supervisão geral.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53619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Monique · Marketing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29967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Conteúdo, redes sociais, materiais de vendas e abertura de contatos.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53619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Victor ·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29967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Produção audiovisual, demonstrações, integrações e análise de dados.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3657600"/>
            <a:ext cx="3474720" cy="16002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14600" y="3657600"/>
            <a:ext cx="73152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15768" y="3822191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Odon · Técnico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4315968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Integrações, testes, documentação e ferramentas técnicas.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3474720" cy="16002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73152" cy="16002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19088" y="3822191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Luciana · Pesquisa/dados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315968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Apoio à pesquisa e análise de dados.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 · Posicionamento e proposta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A mudança de paradigma: bloquear o roubo no ato.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347472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73152" cy="347472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673351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Mensagem central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67128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“A névoa detém o crime em segundos”</a:t>
            </a:r>
            <a:br/>
            <a:br/>
            <a:r>
              <a:t>O sistema vende tempo e dissuasão ativa.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12080" cy="347472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73152" cy="347472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673351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Diferencial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67128"/>
            <a:ext cx="48463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Solução de segurança por névoa desenvolvida e produzida no Brasil, com alta tecnologia e foco em desempenho, confiabilidade e integração.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2 · Segmentação e priorização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  <a:latin typeface="Aptos"/>
              </a:defRPr>
            </a:pPr>
            <a:r>
              <a:t>Verticais definidas no documento com base em dados de roubos em estabelecimentos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46888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713232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Farmácias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340" y="1819357"/>
            <a:ext cx="21031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Alta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399032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439 roubos em São Paulo no 1º semestre de 2026; medicamentos de alto valor.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58568"/>
            <a:ext cx="246888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258568"/>
            <a:ext cx="73152" cy="713232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423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Joalherias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340" y="2761787"/>
            <a:ext cx="21031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Alta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3" y="2331720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Roubos violentos de alto valor; casos documentados em Campinas e Goiânia.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91256"/>
            <a:ext cx="246888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191256"/>
            <a:ext cx="73152" cy="713232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355848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Supermercados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340" y="3680984"/>
            <a:ext cx="21031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Alta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64408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Abrappe aponta crescimento dos roubos e forte impacto em perdas.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23944"/>
            <a:ext cx="246888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4123944"/>
            <a:ext cx="73152" cy="713232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4288536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Lojas de eletrônicos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632410"/>
            <a:ext cx="21031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 err="1"/>
              <a:t>Média-alta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3383280" y="4197096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Grupos organizados e alto volume de ocorrências de celulares.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056632"/>
            <a:ext cx="246888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5056632"/>
            <a:ext cx="73152" cy="713232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5221224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Postos de combustível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5550108"/>
            <a:ext cx="210312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 err="1"/>
              <a:t>Média-alta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3383280" y="5129784"/>
            <a:ext cx="7955279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Operação 24h, poucos funcionários à noite e exposição do caixa.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3 · Ecossistema de parceiros e influenciadores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8191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Associações setoriais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7568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Joalheria, indústria, varejo alimentar, farmácias e postos de combustível.</a:t>
            </a:r>
            <a:br/>
            <a:br/>
            <a:r>
              <a:t>Ações: palestras, webinars e posicionamento institucional.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58191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Seguradoras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7568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Acordos de desconto nos prêmios para clientes com névoa e documentação técnica para corretores.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41732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58191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Polícia e administradores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75688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O plano propõe ações para ampliar a recomendação da tecnologia após ocorrências e proteger edifícios.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3657600"/>
            <a:ext cx="7178040" cy="150876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14600" y="3657600"/>
            <a:ext cx="73152" cy="150876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15768" y="3822191"/>
            <a:ext cx="6812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Fluxo de alianças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4315968"/>
            <a:ext cx="6812279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Identificação → primeiro contato → reunião → negociação → acompanhamento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4 · Canal técnico: alarmes e CFTV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Transformar a névoa em uma venda adicional natural para o instalador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22860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228600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Integração nativa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Exemplos citados: UR Fog + Hikvision AX PRO; UR Fog + VESTA.</a:t>
            </a:r>
            <a:br/>
            <a:br/>
            <a:r>
              <a:t>Controle pelo mesmo aplicativo.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22860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73152" cy="22860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Conexão rápida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75688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Exemplo: PROTECT “Ajax Ready”.</a:t>
            </a:r>
            <a:br/>
            <a:br/>
            <a:r>
              <a:t>Objetivo: reduzir a barreira técnica para o instalador.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22860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228600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Verificação pós-disparo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75688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PROTECT + Axis + Milestone: uso de câmeras térmicas para localização de intrusos após o disparo.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4160520"/>
            <a:ext cx="7178040" cy="11430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514600" y="4160520"/>
            <a:ext cx="73152" cy="11430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15768" y="4325112"/>
            <a:ext cx="6812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Programa de Parceiros Tecnológicos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4818888"/>
            <a:ext cx="6812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Níveis nativo / compatível / certificado + documentação conjunta + casos de sucesso + marketing conjunto.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5 · Eventos e feiras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  <a:latin typeface="Aptos"/>
              </a:defRPr>
            </a:pPr>
            <a:r>
              <a:t>Regra central: foco apenas no Brasil e nas verticais-alvo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07492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09728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470915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Uma feira por vertical estratégica.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7492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73152" cy="10972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81912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75688"/>
            <a:ext cx="470915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Demonstração ao vivo como elemento central.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34640"/>
            <a:ext cx="507492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834640"/>
            <a:ext cx="73152" cy="109728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999232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493008"/>
            <a:ext cx="470915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Material específico para cada setor.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34640"/>
            <a:ext cx="507492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73152" cy="10972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2999232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493008"/>
            <a:ext cx="470915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Equipe técnica capacitada para explicar integrações.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51960"/>
            <a:ext cx="5074920" cy="10972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251960"/>
            <a:ext cx="73152" cy="109728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416552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910328"/>
            <a:ext cx="4709159" cy="274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Objetivo comercial mensurável por evento.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6 · Capacitação de vendas e conteúdos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53619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Realidade aumentada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29967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Medir o ambiente, selecionar o gerador e simular o disparo no celular.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47472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53619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Calculadora de cobertura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29967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Dimensionar projetos por volume (m³) e reduzir erros de instalação.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7888" y="1536192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Guias de integração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029967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Diagramas de conexão com VESTA, PrimeX, Hikvision e Ajax.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3657600"/>
            <a:ext cx="7178040" cy="146304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14600" y="3657600"/>
            <a:ext cx="73152" cy="146304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15768" y="3822191"/>
            <a:ext cx="6812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Casos de sucesso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15768" y="4315968"/>
            <a:ext cx="6812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Produzir histórias sem identificação dos clientes, com foco em resultados e aplicação prática.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7 · Plano de mídias sociais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  <a:latin typeface="Aptos"/>
              </a:defRPr>
            </a:pPr>
            <a:r>
              <a:t>Dois canais, dois públicos e dois formatos de comunicação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66360" cy="33832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33832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81912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LinkedIn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Público: instaladores, distribuidores, seguradoras, associações e decisores B2B.</a:t>
            </a:r>
            <a:br/>
            <a:br/>
            <a:r>
              <a:t>Tom: corporativo, técnico e informativo.</a:t>
            </a:r>
            <a:br/>
            <a:br/>
            <a:r>
              <a:t>Frequência: 3 publicações/semana.</a:t>
            </a:r>
            <a:br/>
            <a:br/>
            <a:r>
              <a:t>Formatos: artigos, carrosséis, vídeos curtos e casos de sucesso.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166360" cy="33832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338328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4807" y="1581912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Instagram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075688"/>
            <a:ext cx="4800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Público: proprietários de comércios, gestores de segurança e público geral.</a:t>
            </a:r>
            <a:br/>
            <a:br/>
            <a:r>
              <a:t>Tom: visual, didático e próximo.</a:t>
            </a:r>
            <a:br/>
            <a:br/>
            <a:r>
              <a:t>Frequência: 4 publicações/semana.</a:t>
            </a:r>
            <a:br/>
            <a:br/>
            <a:r>
              <a:t>Formatos: Reels, carrosséis, stories e imagens com dados.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Calendário editorial · 12 meses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  <a:latin typeface="Aptos"/>
              </a:defRPr>
            </a:pPr>
            <a:r>
              <a:t>Quatro trimestres com evolução de educação para resultados e integração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525780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73152" cy="1874519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36192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T1 · Meses 1–3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29967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Educação e posicionamento</a:t>
            </a:r>
            <a:br/>
            <a:r>
              <a:t>Farmácias → Joalherias → combinação das duas.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5780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73152" cy="1874519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536192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T2 · Meses 4–6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29967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Casos de sucesso e prova social</a:t>
            </a:r>
            <a:br/>
            <a:r>
              <a:t>Eletrônicos → Supermercados → integração entre setores.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11880"/>
            <a:ext cx="525780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611880"/>
            <a:ext cx="73152" cy="1874519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776472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T3 · Meses 7–9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27024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Integração técnica e canal</a:t>
            </a:r>
            <a:br/>
            <a:r>
              <a:t>Postos → cinco verticais → combinação de riscos.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11880"/>
            <a:ext cx="5257800" cy="1874519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611880"/>
            <a:ext cx="73152" cy="1874519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776472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T4 · Meses 10–12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270248"/>
            <a:ext cx="4892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Resultados e encerramento</a:t>
            </a:r>
            <a:br/>
            <a:r>
              <a:t>Joalherias/eletrônicos → supermercados/postos → balanço anual.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9 · Cronograma de implementação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33172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73152" cy="713232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1399032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Fase 1 · Meses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92808"/>
            <a:ext cx="19659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325880"/>
            <a:ext cx="8229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Posicionamento, argumentos de venda, matriz de segmentação e verticais.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67128"/>
            <a:ext cx="233172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67128"/>
            <a:ext cx="73152" cy="713232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331720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Fase 2 · Meses 3–4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825496"/>
            <a:ext cx="19659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Ecossistema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58568"/>
            <a:ext cx="8229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Associações, seguradoras e parceiros tecnológicos.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99816"/>
            <a:ext cx="233172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099816"/>
            <a:ext cx="73152" cy="713232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7" y="3264408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Fase 3 · Meses 4–6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3758184"/>
            <a:ext cx="19659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Canal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191256"/>
            <a:ext cx="8229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Acordos de integração, kit de parceiros e capacitação.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32504"/>
            <a:ext cx="233172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032504"/>
            <a:ext cx="73152" cy="713232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7" y="4197096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Fase 4 · Mês 6 em diante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690872"/>
            <a:ext cx="19659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Eventos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123944"/>
            <a:ext cx="8229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Feiras, demonstrações e captação de leads.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65192"/>
            <a:ext cx="2331720" cy="713232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965192"/>
            <a:ext cx="73152" cy="713232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5129783"/>
            <a:ext cx="1965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Fase 5 · Contínuo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5623559"/>
            <a:ext cx="19659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Conteúdo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5056631"/>
            <a:ext cx="82296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D37"/>
                </a:solidFill>
              </a:defRPr>
            </a:pPr>
            <a:r>
              <a:t>Casos, whitepapers, AR app, materiais e mídias sociais.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10 · Como os blocos se conectam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"/>
              </a:defRPr>
            </a:pPr>
            <a:r>
              <a:t>O plano foi desenhado como um ciclo comercial integrado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2743200" cy="1051560"/>
          </a:xfrm>
          <a:prstGeom prst="round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POSICIONAMENTO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08760"/>
            <a:ext cx="2743200" cy="1051560"/>
          </a:xfrm>
          <a:prstGeom prst="round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SEGMENTAÇÃO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08760"/>
            <a:ext cx="2743200" cy="1051560"/>
          </a:xfrm>
          <a:prstGeom prst="round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ALIADOS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977639"/>
            <a:ext cx="2743200" cy="1051560"/>
          </a:xfrm>
          <a:prstGeom prst="round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CANAL TÉCNICO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77639"/>
            <a:ext cx="2743200" cy="1051560"/>
          </a:xfrm>
          <a:prstGeom prst="round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EVENTOS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2743200" cy="1051560"/>
          </a:xfrm>
          <a:prstGeom prst="round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CONTEÚDO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Dados-chave destacados no documento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  <a:latin typeface="Aptos"/>
              </a:defRPr>
            </a:pPr>
            <a:r>
              <a:t>Indicadores usados como suporte à priorização e à narrativa comercial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173736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69AA"/>
                </a:solidFill>
              </a:defRPr>
            </a:pPr>
            <a:r>
              <a:t>439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60020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A"/>
                </a:solidFill>
              </a:defRPr>
            </a:pPr>
            <a:r>
              <a:t>roubos em farmácias</a:t>
            </a:r>
          </a:p>
          <a:p>
            <a:pPr>
              <a:defRPr sz="1100">
                <a:solidFill>
                  <a:srgbClr val="5F6C78"/>
                </a:solidFill>
              </a:defRPr>
            </a:pPr>
            <a:r>
              <a:t>São Paulo, 1º semestre de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212080" cy="173736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36192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69AA"/>
                </a:solidFill>
              </a:defRPr>
            </a:pPr>
            <a:r>
              <a:t>44/dia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600200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A"/>
                </a:solidFill>
              </a:defRPr>
            </a:pPr>
            <a:r>
              <a:t>ocorrências de roubo de celulares</a:t>
            </a:r>
          </a:p>
          <a:p>
            <a:pPr>
              <a:defRPr sz="1100">
                <a:solidFill>
                  <a:srgbClr val="5F6C78"/>
                </a:solidFill>
              </a:defRPr>
            </a:pPr>
            <a:r>
              <a:t>Belo Horizonte, 1º semestre de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520440"/>
            <a:ext cx="5212080" cy="173736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685032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69AA"/>
                </a:solidFill>
              </a:defRPr>
            </a:pPr>
            <a:r>
              <a:t>R$ 2,5 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749039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A"/>
                </a:solidFill>
              </a:defRPr>
            </a:pPr>
            <a:r>
              <a:t>caso documentado</a:t>
            </a:r>
          </a:p>
          <a:p>
            <a:pPr>
              <a:defRPr sz="1100">
                <a:solidFill>
                  <a:srgbClr val="5F6C78"/>
                </a:solidFill>
              </a:defRPr>
            </a:pPr>
            <a:r>
              <a:t>Joias e relógios em Campinas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520440"/>
            <a:ext cx="5212080" cy="173736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3685032"/>
            <a:ext cx="1828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469AA"/>
                </a:solidFill>
              </a:defRPr>
            </a:pPr>
            <a:r>
              <a:t>49%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749039"/>
            <a:ext cx="29260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0233A"/>
                </a:solidFill>
              </a:defRPr>
            </a:pPr>
            <a:r>
              <a:t>percepção de insegurança</a:t>
            </a:r>
          </a:p>
          <a:p>
            <a:pPr>
              <a:defRPr sz="1100">
                <a:solidFill>
                  <a:srgbClr val="5F6C78"/>
                </a:solidFill>
              </a:defRPr>
            </a:pPr>
            <a:r>
              <a:t>Brasileiros que citam postos de combustível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Anexo · Dados geográficos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  <a:latin typeface="Aptos"/>
              </a:defRPr>
            </a:pPr>
            <a:r>
              <a:t>Taxa por 100 mil habitantes (2025), conforme o documento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399032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Acre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18322" y="1399032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24,1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84248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984248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14884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Ceará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8322" y="2148840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23,3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34056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2734056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898648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Pernambuco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8322" y="2903928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22,2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83864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483864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648456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Pará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8322" y="3648456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21,4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33672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233672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398264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Rondônia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8322" y="4398264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20,9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38343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983479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148071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Piauí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8322" y="5266943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20,8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234440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1234440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1399032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Amapá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6237" y="1399032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20,3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984248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63640" y="1984248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64807" y="2148840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Amazonas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6237" y="2138407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18,4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2734056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63640" y="2734056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64807" y="2898648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Rio de Janeiro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6237" y="2903928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10,8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3483864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263640" y="3483864"/>
            <a:ext cx="73152" cy="566928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64807" y="3648456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São Paulo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03511" y="3648456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5,9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4233672"/>
            <a:ext cx="5166360" cy="56692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63640" y="4233672"/>
            <a:ext cx="73152" cy="566928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64807" y="4398264"/>
            <a:ext cx="4800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Goiás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64874" y="4398264"/>
            <a:ext cx="480060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rPr dirty="0"/>
              <a:t>4,3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Anexo · Roubo de carga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  <a:latin typeface="Aptos"/>
              </a:defRPr>
            </a:pPr>
            <a:r>
              <a:t>Aplicável exclusivamente à linha Antintruder para transporte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42900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Alimentos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21,9%–38,4% das perdas. Alta liquidez e demanda massiva.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Medicamentos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19%–22,3%. Alto valor unitário e fácil transporte.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2900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49047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Carga fracionada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36,60%. Categoria logística, com alvos dispersos.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66160"/>
            <a:ext cx="342900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73075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Eletrônicos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22452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1,5%–11,7%. Alto valor unitário e facilidade de revenda.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66160"/>
            <a:ext cx="342900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356616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373075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Autopeças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22452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16,00%. Forte demanda de reposição.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566160"/>
            <a:ext cx="3429000" cy="18288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73152" cy="18288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47888" y="373075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Outros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224528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Bebidas: 3,83% · Cigarros: 1,98%–6,3%.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33A"/>
                </a:solidFill>
                <a:latin typeface="Aptos Display"/>
              </a:defRPr>
            </a:pPr>
            <a:r>
              <a:t>Acompanhamento mensal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C78"/>
                </a:solidFill>
                <a:latin typeface="Aptos"/>
              </a:defRPr>
            </a:pPr>
            <a:r>
              <a:t>Indicadores definidos no documento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9144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91440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Publicações realizadas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29967"/>
            <a:ext cx="30632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LinkedIn / Instagram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371600"/>
            <a:ext cx="3429000" cy="9144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73152" cy="9144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81727" y="153619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Impressões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2029967"/>
            <a:ext cx="30632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LinkedIn / Instagram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371600"/>
            <a:ext cx="3429000" cy="9144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73152" cy="91440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153619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Interações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029967"/>
            <a:ext cx="30632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LinkedIn / Instagram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60320"/>
            <a:ext cx="3429000" cy="9144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2560320"/>
            <a:ext cx="73152" cy="9144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272491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Cliques no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218687"/>
            <a:ext cx="30632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LinkedIn / Instagram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560320"/>
            <a:ext cx="3429000" cy="9144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59" y="2560320"/>
            <a:ext cx="73152" cy="91440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7" y="272491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Leads gerados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7" y="3218687"/>
            <a:ext cx="30632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LinkedIn / Instagram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560320"/>
            <a:ext cx="3429000" cy="9144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2560320"/>
            <a:ext cx="73152" cy="9144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0768" y="2724912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Novos seguidores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3218687"/>
            <a:ext cx="30632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LinkedIn / Instagram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749039"/>
            <a:ext cx="3429000" cy="9144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1520" y="3749039"/>
            <a:ext cx="73152" cy="91440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2688" y="3913631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Mensagens recebidas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407407"/>
            <a:ext cx="30632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LinkedIn / Instagram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59" y="3749039"/>
            <a:ext cx="3429000" cy="9144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0559" y="3749039"/>
            <a:ext cx="73152" cy="914400"/>
          </a:xfrm>
          <a:prstGeom prst="rect">
            <a:avLst/>
          </a:prstGeom>
          <a:solidFill>
            <a:srgbClr val="24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81727" y="3913631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Reuniões agendadas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7" y="4407407"/>
            <a:ext cx="30632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LinkedIn / Instagram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3749039"/>
            <a:ext cx="3429000" cy="91440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229600" y="3749039"/>
            <a:ext cx="73152" cy="914400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30768" y="3913631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33A"/>
                </a:solidFill>
              </a:defRPr>
            </a:pPr>
            <a:r>
              <a:t>Acordos fechados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0768" y="4407407"/>
            <a:ext cx="3063240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Renato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698480" y="6547104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F6C78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A lógica do plano</a:t>
            </a:r>
          </a:p>
          <a:p>
            <a:pPr>
              <a:spcBef>
                <a:spcPts val="1600"/>
              </a:spcBef>
              <a:defRPr sz="2000">
                <a:solidFill>
                  <a:srgbClr val="D2E1EB"/>
                </a:solidFill>
              </a:defRPr>
            </a:pPr>
            <a:r>
              <a:t>O posicionamento define a mensagem.</a:t>
            </a:r>
          </a:p>
          <a:p>
            <a:pPr>
              <a:spcBef>
                <a:spcPts val="1600"/>
              </a:spcBef>
              <a:defRPr sz="2000">
                <a:solidFill>
                  <a:srgbClr val="D2E1EB"/>
                </a:solidFill>
              </a:defRPr>
            </a:pPr>
            <a:r>
              <a:t>Os aliados validam a proposta.</a:t>
            </a:r>
          </a:p>
          <a:p>
            <a:pPr>
              <a:spcBef>
                <a:spcPts val="1600"/>
              </a:spcBef>
              <a:defRPr sz="2000">
                <a:solidFill>
                  <a:srgbClr val="D2E1EB"/>
                </a:solidFill>
              </a:defRPr>
            </a:pPr>
            <a:r>
              <a:t>Os parceiros tecnológicos facilitam a venda.</a:t>
            </a:r>
          </a:p>
          <a:p>
            <a:pPr>
              <a:spcBef>
                <a:spcPts val="1600"/>
              </a:spcBef>
              <a:defRPr sz="2000">
                <a:solidFill>
                  <a:srgbClr val="D2E1EB"/>
                </a:solidFill>
              </a:defRPr>
            </a:pPr>
            <a:r>
              <a:t>Os eventos colocam a marca diante do decisor.</a:t>
            </a:r>
          </a:p>
          <a:p>
            <a:pPr>
              <a:spcBef>
                <a:spcPts val="1600"/>
              </a:spcBef>
              <a:defRPr sz="2000">
                <a:solidFill>
                  <a:srgbClr val="D2E1EB"/>
                </a:solidFill>
              </a:defRPr>
            </a:pPr>
            <a:r>
              <a:t>As ferramentas e o conteúdo fecham o ciclo.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5806440"/>
            <a:ext cx="4389120" cy="73152"/>
          </a:xfrm>
          <a:prstGeom prst="rect">
            <a:avLst/>
          </a:prstGeom>
          <a:solidFill>
            <a:srgbClr val="2DA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1243</Words>
  <Application>Microsoft Office PowerPoint</Application>
  <PresentationFormat>Panorámica</PresentationFormat>
  <Paragraphs>223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carlos riaza carcamo</dc:creator>
  <cp:keywords/>
  <dc:description>generated using python-pptx</dc:description>
  <cp:lastModifiedBy>carlos riaza carcamo</cp:lastModifiedBy>
  <cp:revision>3</cp:revision>
  <dcterms:created xsi:type="dcterms:W3CDTF">2013-01-27T09:14:16Z</dcterms:created>
  <dcterms:modified xsi:type="dcterms:W3CDTF">2026-09-21T10:15:36Z</dcterms:modified>
  <cp:category/>
</cp:coreProperties>
</file>